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6" r:id="rId5"/>
    <p:sldId id="259" r:id="rId6"/>
    <p:sldId id="260" r:id="rId7"/>
    <p:sldId id="261" r:id="rId8"/>
    <p:sldId id="267" r:id="rId9"/>
    <p:sldId id="268" r:id="rId10"/>
    <p:sldId id="269" r:id="rId11"/>
    <p:sldId id="270" r:id="rId12"/>
    <p:sldId id="271" r:id="rId13"/>
    <p:sldId id="272" r:id="rId14"/>
    <p:sldId id="263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98" d="100"/>
          <a:sy n="98" d="100"/>
        </p:scale>
        <p:origin x="55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FBFF-BB10-4F3F-B328-7B9B166E4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3E2BC5-F4B8-47A9-AC44-9479EAA89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4C490-40AC-4877-A03B-5B7BD40F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CD6BC-4426-4570-9393-91F26246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AF2A-13ED-4EAF-9439-DA46556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C9E1-C118-486B-97A7-8600544E2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88567-2FCC-4D99-8D57-F3CAD0D1A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13967-3EE5-417B-8138-0FEB5F81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0DF3F-2B23-4BCA-926B-B4185D47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8E033-0911-4901-83CD-D4D1F6A7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2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C2C2-FF42-4C8D-9277-C0FA2C49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63766-17BE-4B94-BE8A-F7EEA7E97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FA351-A0D3-4D9D-B46D-DF18CB0B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95CCF-017E-4DA8-917B-A189F82D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8A46D-4B29-4220-B475-66AA05F9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6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6D93-9451-429B-9B71-CFD94745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605BF-DF12-484C-803E-50178116A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F513A-BAFC-4048-9C88-036C92F73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4A834-A4E5-4F13-9CF9-AD24DAF3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35A2D-B0D1-4E67-9BB9-2E89AB2B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62024-9CA0-468E-83BC-BE803E6B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BDF9-F790-4AB6-A65B-19AD882B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7205E-53B1-4257-AD01-5B085FB93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5998C-85BC-43C6-815E-CA0E9B688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36A05-B953-4D22-92F6-0213C1F79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55883-883B-4861-88FA-F28529E76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CBC78-57C1-45B5-91DD-FB7E081E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F9010-9B76-4FFF-8E46-D521441A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BADCBE-5BB3-4C57-86D1-AB8AE07B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1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4399-E40A-4193-92BA-FE4BB905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6CD10-6FF4-4B5E-95D9-AEF2C056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01C06-FC67-405A-8AC2-9D55B1E4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24950-7512-4275-ABBA-B61CD015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0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30BBCF-B215-4457-8DDB-D67F89F6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2520A-4011-4B11-98D9-34B23E57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C989C-B6A4-4911-A85D-4548B792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2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5FD6-A517-485F-BBC7-56C86CEAB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E7676-8A61-41E4-A109-06A17B68B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FB9D6-ABF3-4E3B-A5A6-D53F96E75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1DAEE-D9B1-415C-85F1-CD4F99F9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317C3-F4AB-4BD5-AA93-9AB248E98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EFBC9-ECF2-4F92-BA08-418BBD85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2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F60F-2F21-4230-AACC-7125D388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C068B-34C6-44EC-9753-74E76B0CF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DDD3B-0B72-4529-8746-11EA693E8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AF199-56D8-4D4B-80A4-0E9506A2A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FD798-B4C0-4B30-AFC2-FD9C4E79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3553F-481D-4AE9-A331-574E9419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15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2275-9D40-4EBD-B0B3-75D19299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FCD14-B50E-4186-85BA-4EA6B6831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A331D-5D1A-494D-87B0-F11F338DE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3ADE7-F159-4155-8C42-05057849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062-5E22-4521-9752-849D1CBE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49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04D87-58DE-4F84-A5DC-1D5554E33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5CD59-C9D9-458E-AE11-D5D0BCF95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AF078-0FE6-4D7D-B6AC-DFEA6040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E751A-EA0E-4323-92A1-A598E65B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4CA9-C8E6-4A2A-86C0-E2268EC1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349E8-0875-4F70-B314-7C000FC3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FC150-87B5-47EA-95CD-387285469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8356-D24B-40B8-98C4-FA725749E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B7DBE-5C11-4AE0-877F-DD2FB0669DDA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98DAD-7388-42A8-A6A8-D02633F83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947CF-6428-4CFD-B657-26CD68B4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C298E-7B91-4826-BBD1-C45D00B7B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3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18FA7E-C104-2889-0BDB-734A53E63739}"/>
              </a:ext>
            </a:extLst>
          </p:cNvPr>
          <p:cNvSpPr txBox="1"/>
          <p:nvPr/>
        </p:nvSpPr>
        <p:spPr>
          <a:xfrm>
            <a:off x="1259879" y="3507761"/>
            <a:ext cx="6925954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two Members.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Kato Joseph Bwanika         Reg:2023-B291-11709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Mambo Emmanuel             Reg:2022-B291-11357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/>
              <a:t>Ssenkaayi</a:t>
            </a:r>
            <a:r>
              <a:rPr lang="en-US" sz="2400" b="1" dirty="0"/>
              <a:t> Vianney John M  Reg:2023-B291-11360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Kutosi Mark                           Reg:2023-B291-11708 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/>
              <a:t>Lubangakene</a:t>
            </a:r>
            <a:r>
              <a:rPr lang="en-US" sz="2400" b="1" dirty="0"/>
              <a:t> Jonathan	 Reg:2023-B291-13195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 err="1"/>
              <a:t>Kayooro</a:t>
            </a:r>
            <a:r>
              <a:rPr lang="en-US" sz="2400" b="1" dirty="0"/>
              <a:t> P. Paul.   		 Reg: 2023-B291-13203</a:t>
            </a:r>
          </a:p>
        </p:txBody>
      </p:sp>
      <p:pic>
        <p:nvPicPr>
          <p:cNvPr id="1028" name="Picture 4" descr="Uganda Martyrs University | E4Impact">
            <a:extLst>
              <a:ext uri="{FF2B5EF4-FFF2-40B4-BE49-F238E27FC236}">
                <a16:creationId xmlns:a16="http://schemas.microsoft.com/office/drawing/2014/main" id="{07FFF60C-FCD7-8EE7-0774-745C37E3B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0" t="15422" r="15737" b="14760"/>
          <a:stretch>
            <a:fillRect/>
          </a:stretch>
        </p:blipFill>
        <p:spPr bwMode="auto">
          <a:xfrm>
            <a:off x="9020738" y="2572764"/>
            <a:ext cx="1748789" cy="1869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4A6E897-F1FA-41A0-A302-87EEFA5EB30B}"/>
              </a:ext>
            </a:extLst>
          </p:cNvPr>
          <p:cNvSpPr txBox="1">
            <a:spLocks/>
          </p:cNvSpPr>
          <p:nvPr/>
        </p:nvSpPr>
        <p:spPr>
          <a:xfrm>
            <a:off x="0" y="611028"/>
            <a:ext cx="1140952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Deep Topic Representation (Autoencoder / Transformer Embeddings)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E85A-502E-4941-A572-EDD64411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16" y="301768"/>
            <a:ext cx="4629150" cy="102033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loading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C0471-606C-48CD-874E-281D9FFF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597" y="2342428"/>
            <a:ext cx="7764010" cy="423698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6C55FA0-F875-B19E-882E-EF5A6A37E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5" y="1322098"/>
            <a:ext cx="1124238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Swahili News dataset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loaded from Hugging Face. This provided the large collection of articles necessary for the project’s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B1A0192-8403-90B8-C8C2-933D7BFBB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261" y="2761387"/>
            <a:ext cx="413313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dataset serves as the project's foundation, enabling the group to focus on a real-world, ow-resource language (Swahili)</a:t>
            </a:r>
          </a:p>
        </p:txBody>
      </p:sp>
    </p:spTree>
    <p:extLst>
      <p:ext uri="{BB962C8B-B14F-4D97-AF65-F5344CB8AC3E}">
        <p14:creationId xmlns:p14="http://schemas.microsoft.com/office/powerpoint/2010/main" val="701155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910B-6F10-49CD-90B6-3B98E1F1F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78954"/>
            <a:ext cx="6838951" cy="678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analysis(EDA)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73C36-9F88-C6AB-E168-360095E533A2}"/>
              </a:ext>
            </a:extLst>
          </p:cNvPr>
          <p:cNvSpPr txBox="1"/>
          <p:nvPr/>
        </p:nvSpPr>
        <p:spPr>
          <a:xfrm>
            <a:off x="807522" y="1282535"/>
            <a:ext cx="3352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Text Length Distribution</a:t>
            </a:r>
          </a:p>
          <a:p>
            <a:r>
              <a:rPr lang="en-GB" dirty="0"/>
              <a:t>• Average: 2,461 characters</a:t>
            </a:r>
          </a:p>
          <a:p>
            <a:r>
              <a:rPr lang="en-GB" dirty="0"/>
              <a:t>• Range: 1,000 - 24,222 chars</a:t>
            </a:r>
          </a:p>
          <a:p>
            <a:r>
              <a:rPr lang="en-GB" dirty="0"/>
              <a:t>• Most articles: 1,000-5,000 chars</a:t>
            </a:r>
            <a:endParaRPr lang="en-U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A8B16D-CCA3-8574-FC4A-F061A4143B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84"/>
          <a:stretch/>
        </p:blipFill>
        <p:spPr>
          <a:xfrm>
            <a:off x="7181852" y="1"/>
            <a:ext cx="4479717" cy="29807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77258F-B9BB-F0BC-15A4-D43DC4326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52" y="2601686"/>
            <a:ext cx="5937681" cy="3656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A50ECB-3221-FBE5-DD2D-82194B7224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742" y="3429000"/>
            <a:ext cx="4534376" cy="21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0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1DD2-649D-442F-ED7E-59F41588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1145"/>
          </a:xfrm>
        </p:spPr>
        <p:txBody>
          <a:bodyPr lIns="90000">
            <a:normAutofit fontScale="90000"/>
          </a:bodyPr>
          <a:lstStyle/>
          <a:p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  <a:t>EDA: Word Frequency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chemeClr val="accent1"/>
                </a:solidFill>
                <a:effectLst/>
                <a:latin typeface="quote-cjk-patch"/>
              </a:rPr>
              <a:t>EDA</a:t>
            </a:r>
            <a:r>
              <a:rPr lang="en-GB" b="1" dirty="0">
                <a:solidFill>
                  <a:srgbClr val="F9FAFB"/>
                </a:solidFill>
                <a:latin typeface="quote-cjk-patch"/>
              </a:rPr>
              <a:t>:</a:t>
            </a:r>
            <a:r>
              <a:rPr lang="en-GB" b="1" dirty="0">
                <a:solidFill>
                  <a:schemeClr val="accent1"/>
                </a:solidFill>
                <a:latin typeface="quote-cjk-patch"/>
              </a:rPr>
              <a:t>: Word Frequencies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  <a:t>DA: Word Frequency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endParaRPr lang="en-U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5687DB-1827-35F3-266C-AC849402A6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94" y="1336270"/>
            <a:ext cx="9844645" cy="487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78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B7F2-4B67-4328-A025-57AEACA1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94" y="630763"/>
            <a:ext cx="9465860" cy="92333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Preprocess Text and Create Sentence Embeddings + Machine Translation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0771D-D13C-C6A6-2D95-403396765E8A}"/>
              </a:ext>
            </a:extLst>
          </p:cNvPr>
          <p:cNvSpPr txBox="1"/>
          <p:nvPr/>
        </p:nvSpPr>
        <p:spPr>
          <a:xfrm>
            <a:off x="565245" y="1781299"/>
            <a:ext cx="4773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Sentence-BERT Embeddings </a:t>
            </a:r>
            <a:br>
              <a:rPr lang="en-GB" dirty="0"/>
            </a:br>
            <a:r>
              <a:rPr lang="en-GB" dirty="0"/>
              <a:t>• Model: multilingual-MiniLM </a:t>
            </a:r>
            <a:br>
              <a:rPr lang="en-GB" dirty="0"/>
            </a:br>
            <a:r>
              <a:rPr lang="en-GB" dirty="0"/>
              <a:t>• Output: 384-dimensional vectors </a:t>
            </a:r>
            <a:br>
              <a:rPr lang="en-GB" dirty="0"/>
            </a:br>
            <a:r>
              <a:rPr lang="en-GB" dirty="0"/>
              <a:t>• Processed all 17,789 articles</a:t>
            </a:r>
            <a:endParaRPr lang="en-U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6388CA-A48A-B1FB-AD16-AAF8A8949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73" y="3208834"/>
            <a:ext cx="6495360" cy="3018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BAB6AD-D463-C08D-9E4C-D90387512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699" y="2156994"/>
            <a:ext cx="4664664" cy="4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F521-A5CD-4191-8A34-460C1481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337" y="168426"/>
            <a:ext cx="9377326" cy="79034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Modeling: Train a Deep Autoencoder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9E38E-26F1-012C-8FB6-E6F9DD8355F8}"/>
              </a:ext>
            </a:extLst>
          </p:cNvPr>
          <p:cNvSpPr txBox="1"/>
          <p:nvPr/>
        </p:nvSpPr>
        <p:spPr>
          <a:xfrm>
            <a:off x="1009402" y="958770"/>
            <a:ext cx="1035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Autoencoder Results:        •Compression: 384D → 2D         • Final loss: 0.02097         • 192:1 compression ratio</a:t>
            </a:r>
            <a:endParaRPr lang="en-U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02124C-FE8B-2932-F58C-8BF72210D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48" y="1608524"/>
            <a:ext cx="4524499" cy="43932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954774-B722-AC8E-C5C3-68A5A651F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796" y="1608524"/>
            <a:ext cx="5590791" cy="429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1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993D-39D7-4F5B-BDC7-045704EF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65" y="224803"/>
            <a:ext cx="6235578" cy="91805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Visualize Latent Clusters.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D5A83-E9C4-A810-9DEE-01B2DADC26E4}"/>
              </a:ext>
            </a:extLst>
          </p:cNvPr>
          <p:cNvSpPr txBox="1"/>
          <p:nvPr/>
        </p:nvSpPr>
        <p:spPr>
          <a:xfrm>
            <a:off x="249383" y="2550928"/>
            <a:ext cx="3526972" cy="1222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2D Latent Space Clusters </a:t>
            </a:r>
            <a:br>
              <a:rPr lang="en-GB" dirty="0"/>
            </a:br>
            <a:r>
              <a:rPr lang="en-GB" dirty="0"/>
              <a:t>• Sports: Clear separation ✓</a:t>
            </a:r>
            <a:br>
              <a:rPr lang="en-GB" dirty="0"/>
            </a:br>
            <a:r>
              <a:rPr lang="en-GB" dirty="0"/>
              <a:t>• Health: Well-defined ✓ </a:t>
            </a:r>
            <a:br>
              <a:rPr lang="en-GB" dirty="0"/>
            </a:br>
            <a:r>
              <a:rPr lang="en-GB" dirty="0"/>
              <a:t>• Government topics: Overlap</a:t>
            </a:r>
            <a:endParaRPr lang="en-U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D46D1-1709-DC28-8E17-8C7A4EE31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095" y="1142854"/>
            <a:ext cx="6668237" cy="484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2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4271-ABA2-C955-7BFB-3B5F90EF5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solidFill>
                  <a:schemeClr val="accent1"/>
                </a:solidFill>
                <a:effectLst/>
                <a:latin typeface="quote-cjk-patch"/>
              </a:rPr>
              <a:t>UMAP Comparison</a:t>
            </a:r>
            <a:b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en-GB" b="1" i="0" dirty="0">
                <a:solidFill>
                  <a:srgbClr val="F9FAFB"/>
                </a:solidFill>
                <a:effectLst/>
                <a:latin typeface="quote-cjk-patch"/>
              </a:rPr>
              <a:t>U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120F3D-ACD3-625E-5926-22AFFEA0F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625" y="899597"/>
            <a:ext cx="7245175" cy="559327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1EFAF1-35C3-F9E8-27E9-2433D2E9BF67}"/>
              </a:ext>
            </a:extLst>
          </p:cNvPr>
          <p:cNvSpPr txBox="1"/>
          <p:nvPr/>
        </p:nvSpPr>
        <p:spPr>
          <a:xfrm>
            <a:off x="504366" y="2369941"/>
            <a:ext cx="3494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UMAP Visualization</a:t>
            </a:r>
            <a:br>
              <a:rPr lang="en-GB" dirty="0"/>
            </a:br>
            <a:r>
              <a:rPr lang="en-GB" dirty="0"/>
              <a:t> • Similar patterns to autoencoder   • Sports clearly separated</a:t>
            </a:r>
            <a:br>
              <a:rPr lang="en-GB" dirty="0"/>
            </a:br>
            <a:r>
              <a:rPr lang="en-GB" dirty="0"/>
              <a:t> • Validates our clustering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21659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1D5D-1347-2507-A327-2F7D2300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dirty="0">
                <a:solidFill>
                  <a:schemeClr val="accent1"/>
                </a:solidFill>
              </a:rPr>
              <a:t>ARCHITECTURE EXPLORATION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1CD65A7-39A7-5BB7-D614-4A1FB4B75A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455" y="1389413"/>
            <a:ext cx="7812878" cy="465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EDB9FA-B883-9F68-7FFF-7C6F5F97C596}"/>
              </a:ext>
            </a:extLst>
          </p:cNvPr>
          <p:cNvSpPr txBox="1"/>
          <p:nvPr/>
        </p:nvSpPr>
        <p:spPr>
          <a:xfrm>
            <a:off x="412668" y="2065863"/>
            <a:ext cx="36341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Best Architecture: Shallow-ReLU-2D </a:t>
            </a:r>
            <a:r>
              <a:rPr lang="en-GB" dirty="0"/>
              <a:t>1. Shallow-ReLU-2D: 0.02138 ✓</a:t>
            </a:r>
            <a:br>
              <a:rPr lang="en-GB" dirty="0"/>
            </a:br>
            <a:r>
              <a:rPr lang="en-GB" dirty="0"/>
              <a:t>2. Deep-ReLU-2D: 0.02139 </a:t>
            </a:r>
            <a:br>
              <a:rPr lang="en-GB" dirty="0"/>
            </a:br>
            <a:r>
              <a:rPr lang="en-GB" dirty="0"/>
              <a:t>3. Medium-ReLU-3D: 0.02207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206945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B367-8D6E-74CA-D809-B6211F4AB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951"/>
          </a:xfrm>
        </p:spPr>
        <p:txBody>
          <a:bodyPr/>
          <a:lstStyle/>
          <a:p>
            <a:r>
              <a:rPr lang="en-UG" dirty="0">
                <a:solidFill>
                  <a:schemeClr val="accent1"/>
                </a:solidFill>
              </a:rPr>
              <a:t>NEURAL TOPIC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82727E-8E9A-3C8D-B01E-8B1496495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493" y="1260111"/>
            <a:ext cx="6151761" cy="30235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C0C2E8-1612-677F-86E3-707E9165A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47" y="4307721"/>
            <a:ext cx="8958152" cy="2370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29D5CA-5E9C-2C0E-0FAE-6B5D8D61CE05}"/>
              </a:ext>
            </a:extLst>
          </p:cNvPr>
          <p:cNvSpPr txBox="1"/>
          <p:nvPr/>
        </p:nvSpPr>
        <p:spPr>
          <a:xfrm>
            <a:off x="928339" y="1396117"/>
            <a:ext cx="23724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sng" dirty="0"/>
              <a:t>LDA Discovered Topics </a:t>
            </a:r>
            <a:r>
              <a:rPr lang="en-GB" dirty="0"/>
              <a:t>1. Government &amp; Leadership </a:t>
            </a:r>
            <a:br>
              <a:rPr lang="en-GB" dirty="0"/>
            </a:br>
            <a:r>
              <a:rPr lang="en-GB" dirty="0"/>
              <a:t>2. National Economy</a:t>
            </a:r>
            <a:br>
              <a:rPr lang="en-GB" dirty="0"/>
            </a:br>
            <a:r>
              <a:rPr lang="en-GB" dirty="0"/>
              <a:t>3. Justice &amp; Services</a:t>
            </a:r>
            <a:br>
              <a:rPr lang="en-GB" dirty="0"/>
            </a:br>
            <a:r>
              <a:rPr lang="en-GB" dirty="0"/>
              <a:t>4. Sports </a:t>
            </a:r>
            <a:br>
              <a:rPr lang="en-GB" dirty="0"/>
            </a:br>
            <a:r>
              <a:rPr lang="en-GB" dirty="0"/>
              <a:t>5. International </a:t>
            </a:r>
            <a:br>
              <a:rPr lang="en-GB" dirty="0"/>
            </a:br>
            <a:r>
              <a:rPr lang="en-GB" dirty="0"/>
              <a:t>6. Health &amp; Social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11771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4786-2782-DEBE-B825-077657C34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6182"/>
          </a:xfrm>
        </p:spPr>
        <p:txBody>
          <a:bodyPr>
            <a:normAutofit fontScale="90000"/>
          </a:bodyPr>
          <a:lstStyle/>
          <a:p>
            <a:r>
              <a:rPr lang="en-UG" dirty="0">
                <a:solidFill>
                  <a:schemeClr val="accent1"/>
                </a:solidFill>
              </a:rPr>
              <a:t>AutoEncoder.    Vs    Neural Topic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F19617-EA14-1CAE-A1DB-40A9BFB67E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912" y="2484732"/>
            <a:ext cx="5763322" cy="40633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CF71D-F49A-5994-6228-9D51620DA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6" y="2484732"/>
            <a:ext cx="5347474" cy="4008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306272-6A4B-215E-EA06-251D0F8DC121}"/>
              </a:ext>
            </a:extLst>
          </p:cNvPr>
          <p:cNvSpPr txBox="1"/>
          <p:nvPr/>
        </p:nvSpPr>
        <p:spPr>
          <a:xfrm>
            <a:off x="1287052" y="2018371"/>
            <a:ext cx="195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G" dirty="0"/>
              <a:t>Deep AutoEncoder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078837-4E88-A095-73A7-34AE2229B51F}"/>
              </a:ext>
            </a:extLst>
          </p:cNvPr>
          <p:cNvSpPr txBox="1"/>
          <p:nvPr/>
        </p:nvSpPr>
        <p:spPr>
          <a:xfrm>
            <a:off x="7917366" y="2018371"/>
            <a:ext cx="2010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G" dirty="0"/>
              <a:t>Neural Topic Model</a:t>
            </a:r>
          </a:p>
        </p:txBody>
      </p:sp>
    </p:spTree>
    <p:extLst>
      <p:ext uri="{BB962C8B-B14F-4D97-AF65-F5344CB8AC3E}">
        <p14:creationId xmlns:p14="http://schemas.microsoft.com/office/powerpoint/2010/main" val="206198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CA46-EE6A-60D2-DB67-751E3FDBF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6114"/>
          </a:xfrm>
        </p:spPr>
        <p:txBody>
          <a:bodyPr/>
          <a:lstStyle/>
          <a:p>
            <a:r>
              <a:rPr lang="en-UG" b="1" dirty="0">
                <a:solidFill>
                  <a:schemeClr val="accent1"/>
                </a:solidFill>
              </a:rPr>
              <a:t>Tabular Comparison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4C88545-76AB-D773-968C-BC03C0D547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956973"/>
              </p:ext>
            </p:extLst>
          </p:nvPr>
        </p:nvGraphicFramePr>
        <p:xfrm>
          <a:off x="838200" y="1825625"/>
          <a:ext cx="10515597" cy="444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590326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7214420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84320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Aspect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Autoencoder (DAE)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Neural Topic Model (NTM)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1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Approach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384D → 2D compression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 topic discovery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374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2D coordinates (continuous)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Topic probabilities + word distributions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41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>
                          <a:effectLst/>
                        </a:rPr>
                        <a:t>Sports Separation</a:t>
                      </a:r>
                      <a:endParaRPr lang="en-GB" dirty="0">
                        <a:effectLst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Excellent - clear cluster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Excellent - distinct topic words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20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Government Topics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Shows overlap (realistic)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Splits into nuanced sub-topics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87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Interpretability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 - black box coordinates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- readable topic words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93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Excellent - 2D scatter plots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- topic distributions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77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For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Seeing document relationships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Understanding content themes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339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Loss: 0.02097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Coherent topic discovery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98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Cross-Language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Distance: 3.21 (moderate)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directly applicable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90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Strength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 clustering patterns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Interpretable topic explanations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148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57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CCB4-1FA2-3FAF-6955-E7B9395B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299"/>
          </a:xfrm>
        </p:spPr>
        <p:txBody>
          <a:bodyPr/>
          <a:lstStyle/>
          <a:p>
            <a:r>
              <a:rPr lang="en-UG" dirty="0">
                <a:solidFill>
                  <a:schemeClr val="accent1"/>
                </a:solidFill>
              </a:rPr>
              <a:t>Multilingual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E1E607-0BBF-DD3F-8808-7C1732DEC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44939"/>
            <a:ext cx="10515600" cy="27592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D937F5-6513-B3ED-B87B-7F327AF0A0FD}"/>
              </a:ext>
            </a:extLst>
          </p:cNvPr>
          <p:cNvSpPr txBox="1"/>
          <p:nvPr/>
        </p:nvSpPr>
        <p:spPr>
          <a:xfrm>
            <a:off x="838200" y="1541017"/>
            <a:ext cx="3901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u="sng" dirty="0"/>
              <a:t>Method:     Translate Swahili → English</a:t>
            </a:r>
            <a:br>
              <a:rPr lang="en-GB" dirty="0"/>
            </a:br>
            <a:r>
              <a:rPr lang="en-GB" dirty="0"/>
              <a:t> • 300 articles translated </a:t>
            </a:r>
            <a:br>
              <a:rPr lang="en-GB" dirty="0"/>
            </a:br>
            <a:r>
              <a:rPr lang="en-GB" dirty="0"/>
              <a:t>• Compare embeddings </a:t>
            </a:r>
            <a:br>
              <a:rPr lang="en-GB" dirty="0"/>
            </a:br>
            <a:r>
              <a:rPr lang="en-GB" dirty="0"/>
              <a:t>• Measure semantic distance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428130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B6DC-5CDE-4672-9ABE-266BF4AB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70" y="397353"/>
            <a:ext cx="10515600" cy="4612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Assess Language-Invariant Semantic Clusters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FB79A41-8151-952B-3DA4-12A0FCC01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063" y="926876"/>
            <a:ext cx="8299938" cy="593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77714E-0468-9594-FAFE-03B1140CFB65}"/>
              </a:ext>
            </a:extLst>
          </p:cNvPr>
          <p:cNvSpPr txBox="1"/>
          <p:nvPr/>
        </p:nvSpPr>
        <p:spPr>
          <a:xfrm>
            <a:off x="211170" y="1674674"/>
            <a:ext cx="39739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/>
              <a:t>Results: 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Strong Cross-Language Understanding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• International: 1.74 (best)</a:t>
            </a: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• Sports: 2.67 (good)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Economy: 4.79 (needs improvement)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Average: 3.21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06578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26F1252-0F2D-F642-CA77-0860B7EDF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06" y="281017"/>
            <a:ext cx="10302499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successfully achieved deep topic representation for Swahili news using a Deep Autoencoder on real-world data.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compressing 384D Sentence-BERT embeddings into a 2D latent space, we demonstrated effective topic extraction with 192:1 compression and minimal reconstruction loss (0.021).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confirmed distinct topic clusters, with sports and health showing clear separation. Crucially, the system proved language-invariant, clustering articles by meaning across Swahili and English translations, validating deep autoencoders for cross-lingual semantic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optimized 2-layer ReLU architecture outperformed complex alternatives, providing an efficient framework for multilingual topic modeling applications.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BF964-F315-46F1-579F-B4F01C32F2F2}"/>
              </a:ext>
            </a:extLst>
          </p:cNvPr>
          <p:cNvSpPr txBox="1"/>
          <p:nvPr/>
        </p:nvSpPr>
        <p:spPr>
          <a:xfrm>
            <a:off x="2945314" y="-124310"/>
            <a:ext cx="33129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9048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</TotalTime>
  <Words>606</Words>
  <Application>Microsoft Macintosh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quote-cjk-patch</vt:lpstr>
      <vt:lpstr>Office Theme</vt:lpstr>
      <vt:lpstr>PowerPoint Presentation</vt:lpstr>
      <vt:lpstr>Dataset loading</vt:lpstr>
      <vt:lpstr>Exploratory data analysis(EDA)</vt:lpstr>
      <vt:lpstr> EDA: Word Frequency EDA:: Word Frequencies DA: Word Frequency </vt:lpstr>
      <vt:lpstr>Preprocess Text and Create Sentence Embeddings + Machine Translation</vt:lpstr>
      <vt:lpstr>Modeling: Train a Deep Autoencoder</vt:lpstr>
      <vt:lpstr>Visualize Latent Clusters.</vt:lpstr>
      <vt:lpstr>UMAP Comparison U</vt:lpstr>
      <vt:lpstr>ARCHITECTURE EXPLORATION</vt:lpstr>
      <vt:lpstr>NEURAL TOPIC MODEL</vt:lpstr>
      <vt:lpstr>AutoEncoder.    Vs    Neural Topic Model</vt:lpstr>
      <vt:lpstr>Tabular Comparison</vt:lpstr>
      <vt:lpstr>Multilingual Analysis</vt:lpstr>
      <vt:lpstr> Assess Language-Invariant Semantic Clusters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Malik</dc:creator>
  <cp:lastModifiedBy>Microsoft Office User</cp:lastModifiedBy>
  <cp:revision>21</cp:revision>
  <dcterms:created xsi:type="dcterms:W3CDTF">2025-10-28T21:15:12Z</dcterms:created>
  <dcterms:modified xsi:type="dcterms:W3CDTF">2025-11-03T11:13:35Z</dcterms:modified>
</cp:coreProperties>
</file>